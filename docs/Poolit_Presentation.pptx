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Poolit and the team. Course UCS503P, Software Engineering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inefficiency of individual hostel food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live-dropping fee counter is the core hook of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personas: students on mobile, vendors on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student app features, then vendor console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monorepo and infrastructure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SPAs share a domain package, hitting an Express API backed by Supabase, plus a pool scheduler.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Iterative/incremental, agile-influenced. Map ten phases onto the six classic SDLC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sprints across a 15-week semester, mapped to a Gantt chart. As of today five sprints are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 ladder plus slot and order lifecycle state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screenshots of the student app and vendor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Migration, race conditions, and backend hardening were the main engineering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limitations and what's planned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summary and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71877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UCS503P · SOFTWARE ENGINEERING PROJECT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7106900" y="1009650"/>
            <a:ext cx="133350" cy="13335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3709988"/>
            <a:ext cx="1781175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Poolit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047750" y="5653088"/>
            <a:ext cx="17811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Quick-Commerce for Hostels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8620125"/>
            <a:ext cx="16192500" cy="9525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8934450"/>
            <a:ext cx="1398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Ariwala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9258300"/>
            <a:ext cx="1398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1024170433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8789" y="8934450"/>
            <a:ext cx="1649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Paryag Kakkar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8789" y="9258300"/>
            <a:ext cx="1649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1024170447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12863" y="9258300"/>
            <a:ext cx="26701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Semester 2026–27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038600"/>
            <a:ext cx="8829675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33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students ordering food individually each pay a full delivery fee, discouraging frequent ordering and creating inefficiency for vendors doing many small deliveries.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477500" y="3190875"/>
            <a:ext cx="6762750" cy="1914525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29925" y="3543300"/>
            <a:ext cx="66636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 per student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829925" y="4010025"/>
            <a:ext cx="623963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individual order carries the full delivery fee, which discourages frequent ordering.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0" y="5372100"/>
            <a:ext cx="6762750" cy="1914525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29925" y="5724525"/>
            <a:ext cx="66636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trips per vendor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829925" y="6191250"/>
            <a:ext cx="623963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make many small deliveries instead of consolidated runs to the same hostel.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8686800"/>
            <a:ext cx="137350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Poolit incentivizes students to order within the same time window so deliveries can be consolidated, cutting cost per student and delivery trips per vendor.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F9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38300"/>
            <a:ext cx="1569720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7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Poolit is a pooled quick-commerce app for college hostels — students in the same hostel order individually within a shared time-boxed window (a “slot”), and the per-student delivery fee drops in real time as more students join. </a:t>
            </a:r>
            <a:pPr algn="l" indent="0" marL="0">
              <a:lnSpc>
                <a:spcPct val="128571"/>
              </a:lnSpc>
              <a:buNone/>
            </a:pPr>
            <a:r>
              <a:rPr lang="en-US" sz="27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live-dropping fee counter is the core product hook.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47750" y="7581900"/>
            <a:ext cx="3193107" cy="1943100"/>
          </a:xfrm>
          <a:prstGeom prst="roundRect">
            <a:avLst>
              <a:gd name="adj" fmla="val 3922"/>
            </a:avLst>
          </a:prstGeom>
          <a:solidFill>
            <a:srgbClr val="1C4A38"/>
          </a:solidFill>
          <a:ln/>
        </p:spPr>
      </p:sp>
      <p:sp>
        <p:nvSpPr>
          <p:cNvPr id="5" name="Text 3"/>
          <p:cNvSpPr/>
          <p:nvPr/>
        </p:nvSpPr>
        <p:spPr>
          <a:xfrm>
            <a:off x="1097645" y="7962900"/>
            <a:ext cx="3093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orders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645" y="8362950"/>
            <a:ext cx="309331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07557" y="8315325"/>
            <a:ext cx="5143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193357" y="7581900"/>
            <a:ext cx="3193107" cy="1943100"/>
          </a:xfrm>
          <a:prstGeom prst="roundRect">
            <a:avLst>
              <a:gd name="adj" fmla="val 3922"/>
            </a:avLst>
          </a:prstGeom>
          <a:solidFill>
            <a:srgbClr val="1C4A38"/>
          </a:solidFill>
          <a:ln/>
        </p:spPr>
      </p:sp>
      <p:sp>
        <p:nvSpPr>
          <p:cNvPr id="9" name="Text 7"/>
          <p:cNvSpPr/>
          <p:nvPr/>
        </p:nvSpPr>
        <p:spPr>
          <a:xfrm>
            <a:off x="5243252" y="7962900"/>
            <a:ext cx="3093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orders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43252" y="8362950"/>
            <a:ext cx="309331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653165" y="8315325"/>
            <a:ext cx="5143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338965" y="7581900"/>
            <a:ext cx="3193107" cy="1943100"/>
          </a:xfrm>
          <a:prstGeom prst="roundRect">
            <a:avLst>
              <a:gd name="adj" fmla="val 3922"/>
            </a:avLst>
          </a:prstGeom>
          <a:solidFill>
            <a:srgbClr val="1C4A38"/>
          </a:solidFill>
          <a:ln/>
        </p:spPr>
      </p:sp>
      <p:sp>
        <p:nvSpPr>
          <p:cNvPr id="13" name="Text 11"/>
          <p:cNvSpPr/>
          <p:nvPr/>
        </p:nvSpPr>
        <p:spPr>
          <a:xfrm>
            <a:off x="9388859" y="7962900"/>
            <a:ext cx="30933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 orders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88859" y="8362950"/>
            <a:ext cx="309331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2798772" y="8315325"/>
            <a:ext cx="5143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3484572" y="7620000"/>
            <a:ext cx="3755529" cy="1866900"/>
          </a:xfrm>
          <a:prstGeom prst="roundRect">
            <a:avLst>
              <a:gd name="adj" fmla="val 4082"/>
            </a:avLst>
          </a:prstGeom>
          <a:solidFill>
            <a:srgbClr val="FF7A59"/>
          </a:solidFill>
          <a:ln/>
        </p:spPr>
      </p:sp>
      <p:sp>
        <p:nvSpPr>
          <p:cNvPr id="17" name="Text 15"/>
          <p:cNvSpPr/>
          <p:nvPr/>
        </p:nvSpPr>
        <p:spPr>
          <a:xfrm>
            <a:off x="13506346" y="8001000"/>
            <a:ext cx="37119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62A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orders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506346" y="8401050"/>
            <a:ext cx="371198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3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actors, two experiences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600325"/>
            <a:ext cx="7877175" cy="6924675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0675" y="3143250"/>
            <a:ext cx="74704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90675" y="3667125"/>
            <a:ext cx="1905595" cy="381000"/>
          </a:xfrm>
          <a:prstGeom prst="roundRect">
            <a:avLst>
              <a:gd name="adj" fmla="val 50000"/>
            </a:avLst>
          </a:prstGeom>
          <a:solidFill>
            <a:srgbClr val="F0EBE0"/>
          </a:solidFill>
          <a:ln/>
        </p:spPr>
      </p:sp>
      <p:sp>
        <p:nvSpPr>
          <p:cNvPr id="7" name="Text 5"/>
          <p:cNvSpPr/>
          <p:nvPr/>
        </p:nvSpPr>
        <p:spPr>
          <a:xfrm>
            <a:off x="1762125" y="3724275"/>
            <a:ext cx="16388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90675" y="4314825"/>
            <a:ext cx="6995065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individually into their hostel’s open pool, watch the fee counter drop live, and track delivery — no account needed, name-only identity.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590675" y="8543925"/>
            <a:ext cx="1238845" cy="438150"/>
          </a:xfrm>
          <a:prstGeom prst="roundRect">
            <a:avLst>
              <a:gd name="adj" fmla="val 50000"/>
            </a:avLst>
          </a:prstGeom>
          <a:ln w="9525">
            <a:solidFill>
              <a:srgbClr val="12362A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0700" y="8629650"/>
            <a:ext cx="9149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43820" y="8543925"/>
            <a:ext cx="2026741" cy="438150"/>
          </a:xfrm>
          <a:prstGeom prst="roundRect">
            <a:avLst>
              <a:gd name="adj" fmla="val 50000"/>
            </a:avLst>
          </a:prstGeom>
          <a:ln w="9525">
            <a:solidFill>
              <a:srgbClr val="12362A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3845" y="8629650"/>
            <a:ext cx="17028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 counter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84862" y="8543925"/>
            <a:ext cx="1848445" cy="438150"/>
          </a:xfrm>
          <a:prstGeom prst="roundRect">
            <a:avLst>
              <a:gd name="adj" fmla="val 50000"/>
            </a:avLst>
          </a:prstGeom>
          <a:ln w="9525">
            <a:solidFill>
              <a:srgbClr val="12362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4887" y="8629650"/>
            <a:ext cx="15245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82125" y="2600325"/>
            <a:ext cx="7858125" cy="6924675"/>
          </a:xfrm>
          <a:prstGeom prst="roundRect">
            <a:avLst>
              <a:gd name="adj" fmla="val 825"/>
            </a:avLst>
          </a:prstGeom>
          <a:solidFill>
            <a:srgbClr val="12362A"/>
          </a:solidFill>
          <a:ln/>
        </p:spPr>
      </p:sp>
      <p:sp>
        <p:nvSpPr>
          <p:cNvPr id="16" name="Text 14"/>
          <p:cNvSpPr/>
          <p:nvPr/>
        </p:nvSpPr>
        <p:spPr>
          <a:xfrm>
            <a:off x="9915525" y="3133725"/>
            <a:ext cx="74704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15525" y="3657600"/>
            <a:ext cx="2821037" cy="381000"/>
          </a:xfrm>
          <a:prstGeom prst="roundRect">
            <a:avLst>
              <a:gd name="adj" fmla="val 50000"/>
            </a:avLst>
          </a:prstGeom>
          <a:solidFill>
            <a:srgbClr val="1C4A3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86975" y="3714750"/>
            <a:ext cx="2562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Vendor console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15525" y="4305300"/>
            <a:ext cx="6995065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every hostel’s pools from one dashboard — close pools, dispatch, manage inventory, and read analytics. Authenticated via email/password.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915525" y="8001000"/>
            <a:ext cx="1798141" cy="438150"/>
          </a:xfrm>
          <a:prstGeom prst="roundRect">
            <a:avLst>
              <a:gd name="adj" fmla="val 50000"/>
            </a:avLst>
          </a:prstGeom>
          <a:ln w="9525">
            <a:solidFill>
              <a:srgbClr val="F7F4EE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5550" y="8086725"/>
            <a:ext cx="14742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27966" y="8001000"/>
            <a:ext cx="2471291" cy="438150"/>
          </a:xfrm>
          <a:prstGeom prst="roundRect">
            <a:avLst>
              <a:gd name="adj" fmla="val 50000"/>
            </a:avLst>
          </a:prstGeom>
          <a:ln w="9525">
            <a:solidFill>
              <a:srgbClr val="F7F4EE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27991" y="8086725"/>
            <a:ext cx="21474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hostels, one view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15525" y="8553450"/>
            <a:ext cx="2509242" cy="438150"/>
          </a:xfrm>
          <a:prstGeom prst="roundRect">
            <a:avLst>
              <a:gd name="adj" fmla="val 50000"/>
            </a:avLst>
          </a:prstGeom>
          <a:ln w="9525">
            <a:solidFill>
              <a:srgbClr val="F7F4EE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15550" y="8639175"/>
            <a:ext cx="21853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47750" y="2228850"/>
            <a:ext cx="7791450" cy="1905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1676400"/>
            <a:ext cx="80251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47750" y="251460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hostel &amp; browse that hostel’s vendor menu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301942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 &amp; place order into the open pool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47750" y="352425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delivery fee counter drop live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047750" y="402907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order: Pooling → Preparing → On the way → Delivered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47750" y="453390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order history &amp; reorder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047750" y="503872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profile, wallet &amp; addresses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448800" y="2228850"/>
            <a:ext cx="7791450" cy="19050"/>
          </a:xfrm>
          <a:prstGeom prst="rect">
            <a:avLst/>
          </a:prstGeom>
          <a:solidFill>
            <a:srgbClr val="12362A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1676400"/>
            <a:ext cx="80251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Console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448800" y="251460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hostels’ pools on one dashboard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448800" y="301942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 pool early, or let the timer auto-close it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448800" y="352425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 consolidated pick list per pool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448800" y="402907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closed pools &amp; mark orders delivered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448800" y="4533900"/>
            <a:ext cx="802519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inventory — restock via presets or custom amount, low-stock alerts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448800" y="5334000"/>
            <a:ext cx="802519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— revenue trend, orders by hour, peak-hours heatmap, hostel breakdown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TypeScript monorepo, backed by Supabase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562225"/>
            <a:ext cx="5194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0175" y="2914650"/>
            <a:ext cx="4938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0175" y="3314700"/>
            <a:ext cx="462408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TypeScript, Vite, monorepo with a shared </a:t>
            </a:r>
            <a:pPr algn="l" indent="0" marL="0">
              <a:lnSpc>
                <a:spcPct val="125806"/>
              </a:lnSpc>
              <a:buNone/>
            </a:pPr>
            <a:r>
              <a:rPr lang="en-US" sz="1950" i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(types, business rules, API client)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46800" y="2562225"/>
            <a:ext cx="5194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9225" y="2914650"/>
            <a:ext cx="4938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9225" y="3314700"/>
            <a:ext cx="49383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REST API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45851" y="2562225"/>
            <a:ext cx="5194399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98276" y="2914650"/>
            <a:ext cx="49385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98276" y="3314700"/>
            <a:ext cx="462423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(PostgreSQL), incl. Postgres RPC functions for atomic operations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6010275"/>
            <a:ext cx="5194250" cy="3514725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0175" y="6362700"/>
            <a:ext cx="4938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0175" y="6762750"/>
            <a:ext cx="4624082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(email + password) for vendors; students stay frictionless / unauthenticated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546800" y="6010275"/>
            <a:ext cx="5194250" cy="3514725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9225" y="6362700"/>
            <a:ext cx="4938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99225" y="6762750"/>
            <a:ext cx="49383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045851" y="6010275"/>
            <a:ext cx="5194399" cy="3514725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98276" y="6362700"/>
            <a:ext cx="49385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Job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98276" y="6762750"/>
            <a:ext cx="462423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Polling-based scheduler auto-closes pools on timer expiry, serverless-compatible via an internal sweep endpoint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381500" y="2300288"/>
            <a:ext cx="4572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67225" y="2547938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 (SPA)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467225" y="2928938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5173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34500" y="2300288"/>
            <a:ext cx="4572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20225" y="2547938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Console (SPA)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20225" y="2928938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5174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48750" y="3519488"/>
            <a:ext cx="266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19800" y="4024313"/>
            <a:ext cx="6248400" cy="1038225"/>
          </a:xfrm>
          <a:prstGeom prst="roundRect">
            <a:avLst>
              <a:gd name="adj" fmla="val 5505"/>
            </a:avLst>
          </a:prstGeom>
          <a:solidFill>
            <a:srgbClr val="F0EBE0"/>
          </a:solidFill>
          <a:ln/>
        </p:spPr>
      </p:sp>
      <p:sp>
        <p:nvSpPr>
          <p:cNvPr id="11" name="Text 9"/>
          <p:cNvSpPr/>
          <p:nvPr/>
        </p:nvSpPr>
        <p:spPr>
          <a:xfrm>
            <a:off x="6000750" y="4233863"/>
            <a:ext cx="628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</a:t>
            </a:r>
            <a:pPr algn="ctr" indent="0" marL="0">
              <a:buNone/>
            </a:pPr>
            <a:r>
              <a:rPr lang="en-US" sz="1950" b="1" i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</a:t>
            </a:r>
            <a:pPr algn="ctr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000750" y="4586288"/>
            <a:ext cx="6286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· business rules · API client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48750" y="5138738"/>
            <a:ext cx="266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305300" y="5643563"/>
            <a:ext cx="5486400" cy="1104900"/>
          </a:xfrm>
          <a:prstGeom prst="roundRect">
            <a:avLst>
              <a:gd name="adj" fmla="val 5172"/>
            </a:avLst>
          </a:prstGeom>
          <a:solidFill>
            <a:srgbClr val="12362A"/>
          </a:solidFill>
          <a:ln/>
        </p:spPr>
      </p:sp>
      <p:sp>
        <p:nvSpPr>
          <p:cNvPr id="15" name="Text 13"/>
          <p:cNvSpPr/>
          <p:nvPr/>
        </p:nvSpPr>
        <p:spPr>
          <a:xfrm>
            <a:off x="4324350" y="5872163"/>
            <a:ext cx="5448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REST API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324350" y="6253163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5057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0" y="6019800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629900" y="5691188"/>
            <a:ext cx="335280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FF7A5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0734675" y="5900738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Scheduler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34675" y="6224588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 sweep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48750" y="6824663"/>
            <a:ext cx="266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381500" y="7329488"/>
            <a:ext cx="4572000" cy="1114425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7225" y="7577138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/ Postgres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467225" y="7948613"/>
            <a:ext cx="4400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RPC functions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334500" y="7329488"/>
            <a:ext cx="4572000" cy="1114425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0225" y="7577138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420225" y="7948613"/>
            <a:ext cx="4400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login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F9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/ Incremental (Agile-influenced)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47750" y="2009775"/>
            <a:ext cx="147161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delivered a working increment — prototype, backend v1, migrated backend, authenticated console, polished UI, deployed, hardened — cycling through the standard stages repeatedly rather than a single linear pass.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019425"/>
            <a:ext cx="2286000" cy="647700"/>
          </a:xfrm>
          <a:prstGeom prst="roundRect">
            <a:avLst>
              <a:gd name="adj" fmla="val 8824"/>
            </a:avLst>
          </a:prstGeom>
          <a:solidFill>
            <a:srgbClr val="1C4A38"/>
          </a:solidFill>
          <a:ln/>
        </p:spPr>
      </p:sp>
      <p:sp>
        <p:nvSpPr>
          <p:cNvPr id="6" name="Text 4"/>
          <p:cNvSpPr/>
          <p:nvPr/>
        </p:nvSpPr>
        <p:spPr>
          <a:xfrm>
            <a:off x="1038225" y="32099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9000" y="3167063"/>
            <a:ext cx="354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29050" y="3019425"/>
            <a:ext cx="2286000" cy="647700"/>
          </a:xfrm>
          <a:prstGeom prst="roundRect">
            <a:avLst>
              <a:gd name="adj" fmla="val 8824"/>
            </a:avLst>
          </a:prstGeom>
          <a:solidFill>
            <a:srgbClr val="1C4A38"/>
          </a:solidFill>
          <a:ln/>
        </p:spPr>
      </p:sp>
      <p:sp>
        <p:nvSpPr>
          <p:cNvPr id="9" name="Text 7"/>
          <p:cNvSpPr/>
          <p:nvPr/>
        </p:nvSpPr>
        <p:spPr>
          <a:xfrm>
            <a:off x="3819525" y="32099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0300" y="3167063"/>
            <a:ext cx="354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610350" y="3019425"/>
            <a:ext cx="2286000" cy="647700"/>
          </a:xfrm>
          <a:prstGeom prst="roundRect">
            <a:avLst>
              <a:gd name="adj" fmla="val 8824"/>
            </a:avLst>
          </a:prstGeom>
          <a:solidFill>
            <a:srgbClr val="1C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6600825" y="32099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91600" y="3167063"/>
            <a:ext cx="354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91650" y="3019425"/>
            <a:ext cx="2286000" cy="647700"/>
          </a:xfrm>
          <a:prstGeom prst="roundRect">
            <a:avLst>
              <a:gd name="adj" fmla="val 8824"/>
            </a:avLst>
          </a:prstGeom>
          <a:solidFill>
            <a:srgbClr val="1C4A38"/>
          </a:solidFill>
          <a:ln/>
        </p:spPr>
      </p:sp>
      <p:sp>
        <p:nvSpPr>
          <p:cNvPr id="15" name="Text 13"/>
          <p:cNvSpPr/>
          <p:nvPr/>
        </p:nvSpPr>
        <p:spPr>
          <a:xfrm>
            <a:off x="9382125" y="32099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72900" y="3167063"/>
            <a:ext cx="354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172950" y="3019425"/>
            <a:ext cx="2286000" cy="647700"/>
          </a:xfrm>
          <a:prstGeom prst="roundRect">
            <a:avLst>
              <a:gd name="adj" fmla="val 8824"/>
            </a:avLst>
          </a:prstGeom>
          <a:solidFill>
            <a:srgbClr val="1C4A38"/>
          </a:solidFill>
          <a:ln/>
        </p:spPr>
      </p:sp>
      <p:sp>
        <p:nvSpPr>
          <p:cNvPr id="18" name="Text 16"/>
          <p:cNvSpPr/>
          <p:nvPr/>
        </p:nvSpPr>
        <p:spPr>
          <a:xfrm>
            <a:off x="12163425" y="32099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54200" y="3167063"/>
            <a:ext cx="354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4954250" y="3019425"/>
            <a:ext cx="2286000" cy="647700"/>
          </a:xfrm>
          <a:prstGeom prst="roundRect">
            <a:avLst>
              <a:gd name="adj" fmla="val 8824"/>
            </a:avLst>
          </a:prstGeom>
          <a:solidFill>
            <a:srgbClr val="1C4A38"/>
          </a:solidFill>
          <a:ln/>
        </p:spPr>
      </p:sp>
      <p:sp>
        <p:nvSpPr>
          <p:cNvPr id="21" name="Text 19"/>
          <p:cNvSpPr/>
          <p:nvPr/>
        </p:nvSpPr>
        <p:spPr>
          <a:xfrm>
            <a:off x="14944725" y="32099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-571500" y="3800475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F9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iterate through phases 1–10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611612" y="4505325"/>
            <a:ext cx="9525" cy="590550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4505325"/>
            <a:ext cx="2610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47750" y="4829175"/>
            <a:ext cx="2610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75499" y="4505325"/>
            <a:ext cx="9525" cy="590550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811637" y="4505325"/>
            <a:ext cx="2610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3811637" y="4829175"/>
            <a:ext cx="2610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2, 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39386" y="4505325"/>
            <a:ext cx="9525" cy="590550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75524" y="4505325"/>
            <a:ext cx="2610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575524" y="4829175"/>
            <a:ext cx="2610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2–5, 7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903273" y="4505325"/>
            <a:ext cx="9525" cy="590550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39411" y="4505325"/>
            <a:ext cx="2610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339411" y="4829175"/>
            <a:ext cx="2610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667161" y="4505325"/>
            <a:ext cx="9525" cy="590550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103298" y="4505325"/>
            <a:ext cx="2610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103298" y="4829175"/>
            <a:ext cx="2610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867186" y="4505325"/>
            <a:ext cx="2610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4867186" y="4829175"/>
            <a:ext cx="2610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8, 10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Phases — Odd Semester 2026–27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752850" y="2228850"/>
            <a:ext cx="19417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556200" y="2228850"/>
            <a:ext cx="39256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63050" y="2228850"/>
            <a:ext cx="39254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769751" y="2228850"/>
            <a:ext cx="49175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6289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1· Requirements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52850" y="2657475"/>
            <a:ext cx="863501" cy="20955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31242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2· Frontend prototype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54451" y="3152775"/>
            <a:ext cx="863650" cy="20955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36195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3· Backend v1 (Mongo)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56200" y="3648075"/>
            <a:ext cx="1765250" cy="20955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1148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4· Migrate to Supabase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59551" y="4143375"/>
            <a:ext cx="863650" cy="20955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46101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5· Vendor auth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61300" y="4638675"/>
            <a:ext cx="863650" cy="20955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51054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6· Console UI revamp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63050" y="5133975"/>
            <a:ext cx="17652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7750" y="56007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7· Deployment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66400" y="5629275"/>
            <a:ext cx="8636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7750" y="60960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8· Hardening pass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868150" y="6124575"/>
            <a:ext cx="17652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7750" y="65913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9· Testing &amp; QA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671500" y="6619875"/>
            <a:ext cx="17652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7750" y="7086600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10· Report &amp; demo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474851" y="7115175"/>
            <a:ext cx="176539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6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7750" y="9429750"/>
            <a:ext cx="209550" cy="13335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29" name="Text 27"/>
          <p:cNvSpPr/>
          <p:nvPr/>
        </p:nvSpPr>
        <p:spPr>
          <a:xfrm>
            <a:off x="1352550" y="9372600"/>
            <a:ext cx="10895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2746921" y="9429750"/>
            <a:ext cx="209550" cy="13335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31" name="Text 29"/>
          <p:cNvSpPr/>
          <p:nvPr/>
        </p:nvSpPr>
        <p:spPr>
          <a:xfrm>
            <a:off x="3051721" y="9372600"/>
            <a:ext cx="20881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(current)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331023" y="9410700"/>
            <a:ext cx="247650" cy="171450"/>
          </a:xfrm>
          <a:prstGeom prst="roundRect">
            <a:avLst>
              <a:gd name="adj" fmla="val 50000"/>
            </a:avLst>
          </a:prstGeom>
          <a:ln w="19050">
            <a:solidFill>
              <a:srgbClr val="1236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73923" y="9372600"/>
            <a:ext cx="8453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 LOGIC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76400"/>
            <a:ext cx="85705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Ladder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2257425"/>
            <a:ext cx="7791450" cy="3200400"/>
          </a:xfrm>
          <a:prstGeom prst="roundRect">
            <a:avLst>
              <a:gd name="adj" fmla="val 1786"/>
            </a:avLst>
          </a:prstGeom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2266950"/>
            <a:ext cx="7772400" cy="571500"/>
          </a:xfrm>
          <a:prstGeom prst="rect">
            <a:avLst/>
          </a:prstGeom>
          <a:solidFill>
            <a:srgbClr val="12362A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2419350"/>
            <a:ext cx="75295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in slot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69027" y="2419350"/>
            <a:ext cx="4701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7275" y="3486150"/>
            <a:ext cx="7772400" cy="9525"/>
          </a:xfrm>
          <a:prstGeom prst="rect">
            <a:avLst/>
          </a:prstGeom>
          <a:solidFill>
            <a:srgbClr val="12362A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23975" y="3009900"/>
            <a:ext cx="75069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148489" y="3009900"/>
            <a:ext cx="490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57275" y="4143375"/>
            <a:ext cx="7772400" cy="9525"/>
          </a:xfrm>
          <a:prstGeom prst="rect">
            <a:avLst/>
          </a:prstGeom>
          <a:solidFill>
            <a:srgbClr val="12362A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23975" y="3667125"/>
            <a:ext cx="75069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148489" y="3667125"/>
            <a:ext cx="490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57275" y="4800600"/>
            <a:ext cx="7772400" cy="9525"/>
          </a:xfrm>
          <a:prstGeom prst="rect">
            <a:avLst/>
          </a:prstGeom>
          <a:solidFill>
            <a:srgbClr val="12362A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23975" y="4324350"/>
            <a:ext cx="76583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286155" y="4324350"/>
            <a:ext cx="3530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57275" y="4810125"/>
            <a:ext cx="7772400" cy="638175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323975" y="4981575"/>
            <a:ext cx="73874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039844" y="4981575"/>
            <a:ext cx="5993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5686425"/>
            <a:ext cx="802519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is a function of distinct orders in a slot, recomputed live while open and locked once closed.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48800" y="1676400"/>
            <a:ext cx="85705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Lifecycle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448800" y="2257425"/>
            <a:ext cx="2222450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6425" y="2419350"/>
            <a:ext cx="2127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23650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2242750" y="2257425"/>
            <a:ext cx="2222450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90375" y="2419350"/>
            <a:ext cx="2127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17601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5036701" y="2266950"/>
            <a:ext cx="2203400" cy="57150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29" name="Text 27"/>
          <p:cNvSpPr/>
          <p:nvPr/>
        </p:nvSpPr>
        <p:spPr>
          <a:xfrm>
            <a:off x="15074801" y="2419350"/>
            <a:ext cx="2127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48800" y="3000375"/>
            <a:ext cx="85705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via timer expiry or manual vendor action.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448800" y="3781425"/>
            <a:ext cx="85705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Lifecycle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448800" y="4362450"/>
            <a:ext cx="16383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58325" y="4505325"/>
            <a:ext cx="1619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182350" y="4495800"/>
            <a:ext cx="304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506200" y="4362450"/>
            <a:ext cx="16383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515725" y="4505325"/>
            <a:ext cx="1619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239750" y="4495800"/>
            <a:ext cx="304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3563600" y="4362450"/>
            <a:ext cx="16383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73125" y="4505325"/>
            <a:ext cx="1619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Dispatched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5297150" y="4495800"/>
            <a:ext cx="304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621000" y="4371975"/>
            <a:ext cx="1619250" cy="514350"/>
          </a:xfrm>
          <a:prstGeom prst="roundRect">
            <a:avLst>
              <a:gd name="adj" fmla="val 50000"/>
            </a:avLst>
          </a:prstGeom>
          <a:solidFill>
            <a:srgbClr val="12362A"/>
          </a:solidFill>
          <a:ln/>
        </p:spPr>
      </p:sp>
      <p:sp>
        <p:nvSpPr>
          <p:cNvPr id="42" name="Text 40"/>
          <p:cNvSpPr/>
          <p:nvPr/>
        </p:nvSpPr>
        <p:spPr>
          <a:xfrm>
            <a:off x="15621000" y="4505325"/>
            <a:ext cx="1619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448800" y="5048250"/>
            <a:ext cx="85705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Strict, no skipped states — invalid transitions rejected (HTTP 409).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SCREENS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71600"/>
            <a:ext cx="17811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 &amp; vendor console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47750" y="2228850"/>
            <a:ext cx="3429000" cy="6943725"/>
          </a:xfrm>
          <a:prstGeom prst="roundRect">
            <a:avLst>
              <a:gd name="adj" fmla="val 4444"/>
            </a:avLst>
          </a:prstGeom>
          <a:solidFill>
            <a:srgbClr val="16241D"/>
          </a:solidFill>
          <a:ln w="9525">
            <a:solidFill>
              <a:srgbClr val="12362A">
                <a:alpha val="16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178" b="-6178"/>
          <a:stretch/>
        </p:blipFill>
        <p:spPr>
          <a:xfrm>
            <a:off x="1190625" y="2371725"/>
            <a:ext cx="3143250" cy="6657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6300" y="9305925"/>
            <a:ext cx="3771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 — Profile &amp; wallet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19650" y="2228850"/>
            <a:ext cx="1242060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12362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29175" y="2238375"/>
            <a:ext cx="12401550" cy="266700"/>
          </a:xfrm>
          <a:prstGeom prst="rect">
            <a:avLst/>
          </a:prstGeom>
          <a:solidFill>
            <a:srgbClr val="EDE8DD"/>
          </a:solidFill>
          <a:ln/>
        </p:spPr>
      </p:sp>
      <p:sp>
        <p:nvSpPr>
          <p:cNvPr id="9" name="Shape 6"/>
          <p:cNvSpPr/>
          <p:nvPr/>
        </p:nvSpPr>
        <p:spPr>
          <a:xfrm>
            <a:off x="4943475" y="2328863"/>
            <a:ext cx="85725" cy="85725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10" name="Shape 7"/>
          <p:cNvSpPr/>
          <p:nvPr/>
        </p:nvSpPr>
        <p:spPr>
          <a:xfrm>
            <a:off x="5086350" y="2328863"/>
            <a:ext cx="85725" cy="85725"/>
          </a:xfrm>
          <a:prstGeom prst="ellipse">
            <a:avLst/>
          </a:prstGeom>
          <a:solidFill>
            <a:srgbClr val="E3C25E"/>
          </a:solidFill>
          <a:ln/>
        </p:spPr>
      </p:sp>
      <p:sp>
        <p:nvSpPr>
          <p:cNvPr id="11" name="Shape 8"/>
          <p:cNvSpPr/>
          <p:nvPr/>
        </p:nvSpPr>
        <p:spPr>
          <a:xfrm>
            <a:off x="5229225" y="2328863"/>
            <a:ext cx="85725" cy="85725"/>
          </a:xfrm>
          <a:prstGeom prst="ellipse">
            <a:avLst/>
          </a:prstGeom>
          <a:solidFill>
            <a:srgbClr val="6FAE7E"/>
          </a:solidFill>
          <a:ln/>
        </p:spPr>
      </p:sp>
      <p:sp>
        <p:nvSpPr>
          <p:cNvPr id="12" name="Text 9"/>
          <p:cNvSpPr/>
          <p:nvPr/>
        </p:nvSpPr>
        <p:spPr>
          <a:xfrm>
            <a:off x="5448300" y="2295525"/>
            <a:ext cx="26743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console — Operations Command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69483"/>
          <a:stretch/>
        </p:blipFill>
        <p:spPr>
          <a:xfrm>
            <a:off x="4829175" y="2505075"/>
            <a:ext cx="12401550" cy="2019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19650" y="4724400"/>
            <a:ext cx="1242060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12362A">
                <a:alpha val="16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29175" y="4733925"/>
            <a:ext cx="12401550" cy="266700"/>
          </a:xfrm>
          <a:prstGeom prst="rect">
            <a:avLst/>
          </a:prstGeom>
          <a:solidFill>
            <a:srgbClr val="EDE8DD"/>
          </a:solidFill>
          <a:ln/>
        </p:spPr>
      </p:sp>
      <p:sp>
        <p:nvSpPr>
          <p:cNvPr id="16" name="Shape 12"/>
          <p:cNvSpPr/>
          <p:nvPr/>
        </p:nvSpPr>
        <p:spPr>
          <a:xfrm>
            <a:off x="4943475" y="4824413"/>
            <a:ext cx="85725" cy="85725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17" name="Shape 13"/>
          <p:cNvSpPr/>
          <p:nvPr/>
        </p:nvSpPr>
        <p:spPr>
          <a:xfrm>
            <a:off x="5086350" y="4824413"/>
            <a:ext cx="85725" cy="85725"/>
          </a:xfrm>
          <a:prstGeom prst="ellipse">
            <a:avLst/>
          </a:prstGeom>
          <a:solidFill>
            <a:srgbClr val="E3C25E"/>
          </a:solidFill>
          <a:ln/>
        </p:spPr>
      </p:sp>
      <p:sp>
        <p:nvSpPr>
          <p:cNvPr id="18" name="Shape 14"/>
          <p:cNvSpPr/>
          <p:nvPr/>
        </p:nvSpPr>
        <p:spPr>
          <a:xfrm>
            <a:off x="5229225" y="4824413"/>
            <a:ext cx="85725" cy="85725"/>
          </a:xfrm>
          <a:prstGeom prst="ellipse">
            <a:avLst/>
          </a:prstGeom>
          <a:solidFill>
            <a:srgbClr val="6FAE7E"/>
          </a:solidFill>
          <a:ln/>
        </p:spPr>
      </p:sp>
      <p:sp>
        <p:nvSpPr>
          <p:cNvPr id="19" name="Text 15"/>
          <p:cNvSpPr/>
          <p:nvPr/>
        </p:nvSpPr>
        <p:spPr>
          <a:xfrm>
            <a:off x="5448300" y="4791075"/>
            <a:ext cx="25848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console — Orders Management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67249"/>
          <a:stretch/>
        </p:blipFill>
        <p:spPr>
          <a:xfrm>
            <a:off x="4829175" y="5000625"/>
            <a:ext cx="12401550" cy="20193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819650" y="7219950"/>
            <a:ext cx="12420600" cy="230505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12362A">
                <a:alpha val="16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29175" y="7229475"/>
            <a:ext cx="12401550" cy="266700"/>
          </a:xfrm>
          <a:prstGeom prst="rect">
            <a:avLst/>
          </a:prstGeom>
          <a:solidFill>
            <a:srgbClr val="EDE8DD"/>
          </a:solidFill>
          <a:ln/>
        </p:spPr>
      </p:sp>
      <p:sp>
        <p:nvSpPr>
          <p:cNvPr id="23" name="Shape 18"/>
          <p:cNvSpPr/>
          <p:nvPr/>
        </p:nvSpPr>
        <p:spPr>
          <a:xfrm>
            <a:off x="4943475" y="7319963"/>
            <a:ext cx="85725" cy="85725"/>
          </a:xfrm>
          <a:prstGeom prst="ellipse">
            <a:avLst/>
          </a:prstGeom>
          <a:solidFill>
            <a:srgbClr val="E0684A"/>
          </a:solidFill>
          <a:ln/>
        </p:spPr>
      </p:sp>
      <p:sp>
        <p:nvSpPr>
          <p:cNvPr id="24" name="Shape 19"/>
          <p:cNvSpPr/>
          <p:nvPr/>
        </p:nvSpPr>
        <p:spPr>
          <a:xfrm>
            <a:off x="5086350" y="7319963"/>
            <a:ext cx="85725" cy="85725"/>
          </a:xfrm>
          <a:prstGeom prst="ellipse">
            <a:avLst/>
          </a:prstGeom>
          <a:solidFill>
            <a:srgbClr val="E3C25E"/>
          </a:solidFill>
          <a:ln/>
        </p:spPr>
      </p:sp>
      <p:sp>
        <p:nvSpPr>
          <p:cNvPr id="25" name="Shape 20"/>
          <p:cNvSpPr/>
          <p:nvPr/>
        </p:nvSpPr>
        <p:spPr>
          <a:xfrm>
            <a:off x="5229225" y="7319963"/>
            <a:ext cx="85725" cy="85725"/>
          </a:xfrm>
          <a:prstGeom prst="ellipse">
            <a:avLst/>
          </a:prstGeom>
          <a:solidFill>
            <a:srgbClr val="6FAE7E"/>
          </a:solidFill>
          <a:ln/>
        </p:spPr>
      </p:sp>
      <p:sp>
        <p:nvSpPr>
          <p:cNvPr id="26" name="Text 21"/>
          <p:cNvSpPr/>
          <p:nvPr/>
        </p:nvSpPr>
        <p:spPr>
          <a:xfrm>
            <a:off x="5448300" y="7286625"/>
            <a:ext cx="27398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console — Inventory Management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65323"/>
          <a:stretch/>
        </p:blipFill>
        <p:spPr>
          <a:xfrm>
            <a:off x="4829175" y="7496175"/>
            <a:ext cx="1240155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47750" y="1752600"/>
            <a:ext cx="16192500" cy="6219825"/>
          </a:xfrm>
          <a:prstGeom prst="roundRect">
            <a:avLst>
              <a:gd name="adj" fmla="val 919"/>
            </a:avLst>
          </a:prstGeom>
          <a:ln w="9525">
            <a:solidFill>
              <a:srgbClr val="12362A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7275" y="1762125"/>
            <a:ext cx="16173450" cy="685800"/>
          </a:xfrm>
          <a:prstGeom prst="rect">
            <a:avLst/>
          </a:prstGeom>
          <a:solidFill>
            <a:srgbClr val="12362A"/>
          </a:solidFill>
          <a:ln/>
        </p:spPr>
      </p:sp>
      <p:sp>
        <p:nvSpPr>
          <p:cNvPr id="5" name="Text 3"/>
          <p:cNvSpPr/>
          <p:nvPr/>
        </p:nvSpPr>
        <p:spPr>
          <a:xfrm>
            <a:off x="1400175" y="1971675"/>
            <a:ext cx="8518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0" y="1971675"/>
            <a:ext cx="8518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7275" y="2447925"/>
            <a:ext cx="16173450" cy="1381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57275" y="3819525"/>
            <a:ext cx="16173450" cy="9525"/>
          </a:xfrm>
          <a:prstGeom prst="rect">
            <a:avLst/>
          </a:prstGeom>
          <a:solidFill>
            <a:srgbClr val="12362A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00175" y="2752725"/>
            <a:ext cx="7865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lacked the relational integrity and built-in auth/RPC support the product needed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258300" y="2752725"/>
            <a:ext cx="785841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the backend to Supabase/Postgres, adding RPC functions for atomic operations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57275" y="3829050"/>
            <a:ext cx="16173450" cy="1381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7275" y="5200650"/>
            <a:ext cx="16173450" cy="9525"/>
          </a:xfrm>
          <a:prstGeom prst="rect">
            <a:avLst/>
          </a:prstGeom>
          <a:solidFill>
            <a:srgbClr val="12362A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00175" y="4133850"/>
            <a:ext cx="7865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orders risked overselling stock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258300" y="4133850"/>
            <a:ext cx="785841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is decremented atomically inside a DB transaction on order placement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57275" y="5210175"/>
            <a:ext cx="16173450" cy="1381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275" y="6581775"/>
            <a:ext cx="16173450" cy="9525"/>
          </a:xfrm>
          <a:prstGeom prst="rect">
            <a:avLst/>
          </a:prstGeom>
          <a:solidFill>
            <a:srgbClr val="12362A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00175" y="5514975"/>
            <a:ext cx="7865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conditions, N+1 queries, and an open CORS policy surfaced as the system grew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258300" y="5514975"/>
            <a:ext cx="785841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during the hardening pass, alongside a CORS allowlist and formal internal documentation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57275" y="6591300"/>
            <a:ext cx="1617345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00175" y="6896100"/>
            <a:ext cx="7865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Migrating physical stock counts into the digital inventory system was error-prone when entered manually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258300" y="6896100"/>
            <a:ext cx="785841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 barcode scanning system so vendors can check in stock directly against SKUs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752600"/>
            <a:ext cx="85705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047750" y="239077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product photography yet (emoji-based placeholder tiles)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2895600"/>
            <a:ext cx="802519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per-store vendor account scoping — every vendor sees every hostel/store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369570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riders are static/simulated, no real courier integration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448800" y="1752600"/>
            <a:ext cx="85705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D95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Next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448800" y="239077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Checked-in DB schema / migrations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448800" y="289560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JWT verification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448800" y="340042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Per-store vendor scoping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448800" y="3905250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448800" y="4410075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 imagery &amp; real dispatch integration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F9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019550"/>
            <a:ext cx="14716125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3150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Poolit applies an iterative SDLC to a real hostel logistics problem — from an in-memory prototype to a deployed, authenticated, Supabase-backed product with a live-dropping fee as its core hook.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1047750" y="8620125"/>
            <a:ext cx="16192500" cy="9525"/>
          </a:xfrm>
          <a:prstGeom prst="rect">
            <a:avLst/>
          </a:prstGeom>
          <a:solidFill>
            <a:srgbClr val="F7F4EE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8934450"/>
            <a:ext cx="1398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Ariwala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9258300"/>
            <a:ext cx="13985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1024170433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8789" y="8934450"/>
            <a:ext cx="1649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Paryag Kakkar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8789" y="9258300"/>
            <a:ext cx="1649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1024170447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25452" y="9124950"/>
            <a:ext cx="188627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2026-09-16T18:08:05Z</dcterms:created>
  <dcterms:modified xsi:type="dcterms:W3CDTF">2026-09-16T18:08:05Z</dcterms:modified>
</cp:coreProperties>
</file>